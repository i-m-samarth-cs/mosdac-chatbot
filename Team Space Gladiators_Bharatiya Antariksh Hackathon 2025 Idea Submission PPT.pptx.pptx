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" charset="1" panose="020B0604020202020204"/>
      <p:regular r:id="rId21"/>
    </p:embeddedFont>
    <p:embeddedFont>
      <p:font typeface="Arial" charset="1" panose="020B0502020202020204"/>
      <p:regular r:id="rId23"/>
    </p:embeddedFont>
    <p:embeddedFont>
      <p:font typeface="Arimo Bold" charset="1" panose="020B0704020202020204"/>
      <p:regular r:id="rId25"/>
    </p:embeddedFont>
    <p:embeddedFont>
      <p:font typeface="Arimo Italics" charset="1" panose="020B060402020209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19.png" Type="http://schemas.openxmlformats.org/officeDocument/2006/relationships/image"/><Relationship Id="rId16" Target="../media/image20.svg" Type="http://schemas.openxmlformats.org/officeDocument/2006/relationships/image"/><Relationship Id="rId17" Target="../media/image21.png" Type="http://schemas.openxmlformats.org/officeDocument/2006/relationships/image"/><Relationship Id="rId18" Target="../media/image22.svg" Type="http://schemas.openxmlformats.org/officeDocument/2006/relationships/image"/><Relationship Id="rId19" Target="../media/image23.pn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24.svg" Type="http://schemas.openxmlformats.org/officeDocument/2006/relationships/image"/><Relationship Id="rId21" Target="../media/image25.png" Type="http://schemas.openxmlformats.org/officeDocument/2006/relationships/image"/><Relationship Id="rId22" Target="../media/image26.png" Type="http://schemas.openxmlformats.org/officeDocument/2006/relationships/image"/><Relationship Id="rId23" Target="../media/image27.sv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29.jpe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42.png" Type="http://schemas.openxmlformats.org/officeDocument/2006/relationships/image"/><Relationship Id="rId13" Target="../media/image43.svg" Type="http://schemas.openxmlformats.org/officeDocument/2006/relationships/image"/><Relationship Id="rId14" Target="../media/image44.png" Type="http://schemas.openxmlformats.org/officeDocument/2006/relationships/image"/><Relationship Id="rId15" Target="../media/image45.svg" Type="http://schemas.openxmlformats.org/officeDocument/2006/relationships/image"/><Relationship Id="rId16" Target="../media/image46.png" Type="http://schemas.openxmlformats.org/officeDocument/2006/relationships/image"/><Relationship Id="rId17" Target="../media/image47.svg" Type="http://schemas.openxmlformats.org/officeDocument/2006/relationships/image"/><Relationship Id="rId18" Target="../media/image48.png" Type="http://schemas.openxmlformats.org/officeDocument/2006/relationships/image"/><Relationship Id="rId19" Target="../media/image49.svg" Type="http://schemas.openxmlformats.org/officeDocument/2006/relationships/image"/><Relationship Id="rId2" Target="../notesSlides/notesSlide9.xml" Type="http://schemas.openxmlformats.org/officeDocument/2006/relationships/notesSlide"/><Relationship Id="rId20" Target="../media/image50.png" Type="http://schemas.openxmlformats.org/officeDocument/2006/relationships/image"/><Relationship Id="rId21" Target="../media/image51.svg" Type="http://schemas.openxmlformats.org/officeDocument/2006/relationships/image"/><Relationship Id="rId22" Target="../media/image52.png" Type="http://schemas.openxmlformats.org/officeDocument/2006/relationships/image"/><Relationship Id="rId23" Target="../media/image53.svg" Type="http://schemas.openxmlformats.org/officeDocument/2006/relationships/image"/><Relationship Id="rId24" Target="../media/image54.png" Type="http://schemas.openxmlformats.org/officeDocument/2006/relationships/image"/><Relationship Id="rId25" Target="../media/image55.svg" Type="http://schemas.openxmlformats.org/officeDocument/2006/relationships/image"/><Relationship Id="rId26" Target="../media/image56.png" Type="http://schemas.openxmlformats.org/officeDocument/2006/relationships/image"/><Relationship Id="rId27" Target="../media/image57.svg" Type="http://schemas.openxmlformats.org/officeDocument/2006/relationships/image"/><Relationship Id="rId28" Target="../media/image58.png" Type="http://schemas.openxmlformats.org/officeDocument/2006/relationships/image"/><Relationship Id="rId29" Target="../media/image59.svg" Type="http://schemas.openxmlformats.org/officeDocument/2006/relationships/image"/><Relationship Id="rId3" Target="../media/image2.png" Type="http://schemas.openxmlformats.org/officeDocument/2006/relationships/image"/><Relationship Id="rId30" Target="../media/image11.png" Type="http://schemas.openxmlformats.org/officeDocument/2006/relationships/image"/><Relationship Id="rId31" Target="../media/image12.svg" Type="http://schemas.openxmlformats.org/officeDocument/2006/relationships/image"/><Relationship Id="rId32" Target="../media/image60.png" Type="http://schemas.openxmlformats.org/officeDocument/2006/relationships/image"/><Relationship Id="rId33" Target="../media/image61.svg" Type="http://schemas.openxmlformats.org/officeDocument/2006/relationships/image"/><Relationship Id="rId34" Target="../media/image62.png" Type="http://schemas.openxmlformats.org/officeDocument/2006/relationships/image"/><Relationship Id="rId35" Target="../media/image63.svg" Type="http://schemas.openxmlformats.org/officeDocument/2006/relationships/image"/><Relationship Id="rId36" Target="../media/image64.png" Type="http://schemas.openxmlformats.org/officeDocument/2006/relationships/image"/><Relationship Id="rId37" Target="../media/image65.svg" Type="http://schemas.openxmlformats.org/officeDocument/2006/relationships/image"/><Relationship Id="rId38" Target="../media/image66.png" Type="http://schemas.openxmlformats.org/officeDocument/2006/relationships/image"/><Relationship Id="rId39" Target="../media/image67.svg" Type="http://schemas.openxmlformats.org/officeDocument/2006/relationships/image"/><Relationship Id="rId4" Target="../media/image34.png" Type="http://schemas.openxmlformats.org/officeDocument/2006/relationships/image"/><Relationship Id="rId40" Target="../media/image68.png" Type="http://schemas.openxmlformats.org/officeDocument/2006/relationships/image"/><Relationship Id="rId41" Target="../media/image69.svg" Type="http://schemas.openxmlformats.org/officeDocument/2006/relationships/image"/><Relationship Id="rId42" Target="../media/image70.png" Type="http://schemas.openxmlformats.org/officeDocument/2006/relationships/image"/><Relationship Id="rId43" Target="../media/image71.sv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72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Relationship Id="rId7" Target="../media/image7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7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16" cy="10287002"/>
            <a:chOff x="0" y="0"/>
            <a:chExt cx="24384021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0775" y="6777796"/>
            <a:ext cx="16858350" cy="43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3200">
                <a:solidFill>
                  <a:srgbClr val="202729"/>
                </a:solidFill>
                <a:latin typeface="Arimo"/>
                <a:ea typeface="Arimo"/>
                <a:cs typeface="Arimo"/>
                <a:sym typeface="Arimo"/>
              </a:rPr>
              <a:t>Team Name : Space Gladiators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8885" y="8639370"/>
            <a:ext cx="16858350" cy="91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>
                <a:solidFill>
                  <a:srgbClr val="202729"/>
                </a:solidFill>
                <a:latin typeface="Arimo"/>
                <a:ea typeface="Arimo"/>
                <a:cs typeface="Arimo"/>
                <a:sym typeface="Arimo"/>
              </a:rPr>
              <a:t>Problem Statement : AI-based Help Bot for Information Retrieval from a Knowledge Graph Based on Static/Dynamic Web Portal 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1751" y="7727316"/>
            <a:ext cx="16858350" cy="43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3200">
                <a:solidFill>
                  <a:srgbClr val="202729"/>
                </a:solidFill>
                <a:latin typeface="Arimo"/>
                <a:ea typeface="Arimo"/>
                <a:cs typeface="Arimo"/>
                <a:sym typeface="Arimo"/>
              </a:rPr>
              <a:t>Team Leader Name : Shendre Samarth Manish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16" cy="10287002"/>
            <a:chOff x="0" y="0"/>
            <a:chExt cx="24384021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32425" y="1410050"/>
            <a:ext cx="4623150" cy="83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8"/>
              </a:lnSpc>
            </a:pPr>
            <a:r>
              <a:rPr lang="en-US" sz="4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Team Members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905000" y="2658900"/>
          <a:ext cx="14478000" cy="7162800"/>
        </p:xfrm>
        <a:graphic>
          <a:graphicData uri="http://schemas.openxmlformats.org/drawingml/2006/table">
            <a:tbl>
              <a:tblPr/>
              <a:tblGrid>
                <a:gridCol w="7239000"/>
                <a:gridCol w="7239000"/>
              </a:tblGrid>
              <a:tr h="358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Leader: 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Name: Shendre Samarth Manish 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College: Sinhgad College Of Engineering,Pune</a:t>
                      </a:r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Member-1: 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Name: Shivam Goraksha Dahifale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College: Sinhgad College Of Engineering,Pune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Member-2: 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Name: Saee Bandal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College: Sinhgad College Of Engineering,Pune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</a:p>
                    <a:p>
                      <a:pPr algn="l">
                        <a:lnSpc>
                          <a:spcPts val="3359"/>
                        </a:lnSpc>
                      </a:pPr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Member-3: 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Name: Shreya Balakrishna Ghodake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College: Sinhgad College Of Engineering,Pune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</a:p>
                    <a:p>
                      <a:pPr algn="l">
                        <a:lnSpc>
                          <a:spcPts val="3359"/>
                        </a:lnSpc>
                      </a:pPr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16" cy="10287002"/>
            <a:chOff x="0" y="0"/>
            <a:chExt cx="24384021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445004" y="7077025"/>
            <a:ext cx="3162651" cy="2107116"/>
          </a:xfrm>
          <a:custGeom>
            <a:avLst/>
            <a:gdLst/>
            <a:ahLst/>
            <a:cxnLst/>
            <a:rect r="r" b="b" t="t" l="l"/>
            <a:pathLst>
              <a:path h="2107116" w="3162651">
                <a:moveTo>
                  <a:pt x="0" y="0"/>
                </a:moveTo>
                <a:lnTo>
                  <a:pt x="3162651" y="0"/>
                </a:lnTo>
                <a:lnTo>
                  <a:pt x="3162651" y="2107117"/>
                </a:lnTo>
                <a:lnTo>
                  <a:pt x="0" y="2107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38252" y="3038749"/>
            <a:ext cx="3282012" cy="2607344"/>
          </a:xfrm>
          <a:custGeom>
            <a:avLst/>
            <a:gdLst/>
            <a:ahLst/>
            <a:cxnLst/>
            <a:rect r="r" b="b" t="t" l="l"/>
            <a:pathLst>
              <a:path h="2607344" w="3282012">
                <a:moveTo>
                  <a:pt x="0" y="0"/>
                </a:moveTo>
                <a:lnTo>
                  <a:pt x="3282012" y="0"/>
                </a:lnTo>
                <a:lnTo>
                  <a:pt x="3282012" y="2607344"/>
                </a:lnTo>
                <a:lnTo>
                  <a:pt x="0" y="26073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937" r="0" b="-1293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1349" y="194025"/>
            <a:ext cx="4623150" cy="83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4"/>
              </a:lnSpc>
            </a:pPr>
            <a:r>
              <a:rPr lang="en-US" sz="3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Brief about the Idea: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64855" y="1368826"/>
            <a:ext cx="11923417" cy="166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COSMOS-AI:</a:t>
            </a:r>
          </a:p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Cognitive Observatory for Space &amp; Meteorological Operations Support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0942" y="3059196"/>
            <a:ext cx="11384004" cy="222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16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COSMOS-AI 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is an intelligent virtual assistant that transforms how users interact with ISRO's MOSDAC portal by converting complex satellite data and documentation into conversational experiences.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45712" y="6253881"/>
            <a:ext cx="5706806" cy="346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51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📋 Overview:</a:t>
            </a:r>
          </a:p>
          <a:p>
            <a:pPr algn="ctr" marL="542050" indent="-271025" lvl="1">
              <a:lnSpc>
                <a:spcPts val="3464"/>
              </a:lnSpc>
              <a:buAutoNum type="arabicPeriod" startAt="1"/>
            </a:pPr>
            <a:r>
              <a:rPr lang="en-US" sz="251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Intelligent Data Navigator for MOSDAC content</a:t>
            </a:r>
          </a:p>
          <a:p>
            <a:pPr algn="ctr" marL="542050" indent="-271025" lvl="1">
              <a:lnSpc>
                <a:spcPts val="3464"/>
              </a:lnSpc>
              <a:buAutoNum type="arabicPeriod" startAt="1"/>
            </a:pPr>
            <a:r>
              <a:rPr lang="en-US" sz="251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Hybrid AI Architecture (Knowledge Graph + RAG)</a:t>
            </a:r>
          </a:p>
          <a:p>
            <a:pPr algn="ctr" marL="542050" indent="-271025" lvl="1">
              <a:lnSpc>
                <a:spcPts val="3464"/>
              </a:lnSpc>
              <a:buAutoNum type="arabicPeriod" startAt="1"/>
            </a:pPr>
            <a:r>
              <a:rPr lang="en-US" sz="251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Multi-Modal Intelligence processing</a:t>
            </a:r>
          </a:p>
          <a:p>
            <a:pPr algn="ctr" marL="542050" indent="-271025" lvl="1">
              <a:lnSpc>
                <a:spcPts val="3464"/>
              </a:lnSpc>
              <a:buAutoNum type="arabicPeriod" startAt="1"/>
            </a:pPr>
            <a:r>
              <a:rPr lang="en-US" sz="251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Geospatial Query Engine with location-time capabilities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6968" y="6225306"/>
            <a:ext cx="3912966" cy="332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Farmer 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Show me rainfall data for my district last month" - gets instant maps instead of navigating 15+ menu layers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49206" y="5462544"/>
            <a:ext cx="2554247" cy="58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4"/>
              </a:lnSpc>
            </a:pPr>
            <a:r>
              <a:rPr lang="en-US" b="true" sz="33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Releveance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7205" y="6309596"/>
            <a:ext cx="4045639" cy="332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News Report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Need latest satellite images of flooding in Assam" - instant access during breaking news coverage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16" cy="10287002"/>
            <a:chOff x="0" y="0"/>
            <a:chExt cx="24384021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51240" y="1730714"/>
            <a:ext cx="7092924" cy="4725661"/>
          </a:xfrm>
          <a:custGeom>
            <a:avLst/>
            <a:gdLst/>
            <a:ahLst/>
            <a:cxnLst/>
            <a:rect r="r" b="b" t="t" l="l"/>
            <a:pathLst>
              <a:path h="4725661" w="7092924">
                <a:moveTo>
                  <a:pt x="0" y="0"/>
                </a:moveTo>
                <a:lnTo>
                  <a:pt x="7092924" y="0"/>
                </a:lnTo>
                <a:lnTo>
                  <a:pt x="7092924" y="4725661"/>
                </a:lnTo>
                <a:lnTo>
                  <a:pt x="0" y="4725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124" y="7631057"/>
            <a:ext cx="2256507" cy="2256507"/>
          </a:xfrm>
          <a:custGeom>
            <a:avLst/>
            <a:gdLst/>
            <a:ahLst/>
            <a:cxnLst/>
            <a:rect r="r" b="b" t="t" l="l"/>
            <a:pathLst>
              <a:path h="2256507" w="2256507">
                <a:moveTo>
                  <a:pt x="0" y="0"/>
                </a:moveTo>
                <a:lnTo>
                  <a:pt x="2256507" y="0"/>
                </a:lnTo>
                <a:lnTo>
                  <a:pt x="2256507" y="2256508"/>
                </a:lnTo>
                <a:lnTo>
                  <a:pt x="0" y="22565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85303" y="314686"/>
            <a:ext cx="14955750" cy="5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32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Opportunity should be able to explain the following:</a:t>
            </a:r>
          </a:p>
          <a:p>
            <a:pPr algn="l" marL="223698" indent="-111849" lvl="1">
              <a:lnSpc>
                <a:spcPts val="77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724398" y="1405340"/>
            <a:ext cx="5774174" cy="56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🎯 How It Solves the Problem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63178" y="2112153"/>
            <a:ext cx="9240274" cy="103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  <a:spcBef>
                <a:spcPct val="0"/>
              </a:spcBef>
            </a:pPr>
            <a:r>
              <a:rPr lang="en-US" sz="196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MOSDAC contains 10+ years of satellite data across 50+ categories, but users spend 20-30 minutes finding specific information due to complex navigation and technical barriers.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276824"/>
            <a:ext cx="8229653" cy="317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315" indent="-248157" lvl="1">
              <a:lnSpc>
                <a:spcPts val="3172"/>
              </a:lnSpc>
              <a:buAutoNum type="arabicPeriod" startAt="1"/>
            </a:pPr>
            <a:r>
              <a:rPr lang="en-US" sz="22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Intelligent Data Discovery: Proactive suggestions based on query patterns</a:t>
            </a:r>
          </a:p>
          <a:p>
            <a:pPr algn="l" marL="496315" indent="-248157" lvl="1">
              <a:lnSpc>
                <a:spcPts val="3172"/>
              </a:lnSpc>
              <a:buAutoNum type="arabicPeriod" startAt="1"/>
            </a:pPr>
            <a:r>
              <a:rPr lang="en-US" sz="22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Context-Aware Processing: Intelligent clarification system for ambiguous queries</a:t>
            </a:r>
          </a:p>
          <a:p>
            <a:pPr algn="l" marL="496315" indent="-248157" lvl="1">
              <a:lnSpc>
                <a:spcPts val="3172"/>
              </a:lnSpc>
              <a:buAutoNum type="arabicPeriod" startAt="1"/>
            </a:pPr>
            <a:r>
              <a:rPr lang="en-US" sz="22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Real-Time Data Integration: Live satellite feed integration with historical data</a:t>
            </a:r>
          </a:p>
          <a:p>
            <a:pPr algn="l" marL="496315" indent="-248157" lvl="1">
              <a:lnSpc>
                <a:spcPts val="3172"/>
              </a:lnSpc>
              <a:buAutoNum type="arabicPeriod" startAt="1"/>
            </a:pPr>
            <a:r>
              <a:rPr lang="en-US" sz="22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Multi-Stakeholder Accessibility: Adaptive response formatting based on user profile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74663" y="6676419"/>
            <a:ext cx="7308652" cy="56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⭐ Unique Selling Propositions (USP)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288852" y="7631057"/>
            <a:ext cx="2256507" cy="2256507"/>
          </a:xfrm>
          <a:custGeom>
            <a:avLst/>
            <a:gdLst/>
            <a:ahLst/>
            <a:cxnLst/>
            <a:rect r="r" b="b" t="t" l="l"/>
            <a:pathLst>
              <a:path h="2256507" w="2256507">
                <a:moveTo>
                  <a:pt x="0" y="0"/>
                </a:moveTo>
                <a:lnTo>
                  <a:pt x="2256507" y="0"/>
                </a:lnTo>
                <a:lnTo>
                  <a:pt x="2256507" y="2256508"/>
                </a:lnTo>
                <a:lnTo>
                  <a:pt x="0" y="22565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545359" y="7631057"/>
            <a:ext cx="2256507" cy="2256507"/>
          </a:xfrm>
          <a:custGeom>
            <a:avLst/>
            <a:gdLst/>
            <a:ahLst/>
            <a:cxnLst/>
            <a:rect r="r" b="b" t="t" l="l"/>
            <a:pathLst>
              <a:path h="2256507" w="2256507">
                <a:moveTo>
                  <a:pt x="0" y="0"/>
                </a:moveTo>
                <a:lnTo>
                  <a:pt x="2256507" y="0"/>
                </a:lnTo>
                <a:lnTo>
                  <a:pt x="2256507" y="2256508"/>
                </a:lnTo>
                <a:lnTo>
                  <a:pt x="0" y="22565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801866" y="7631057"/>
            <a:ext cx="2256507" cy="2256507"/>
          </a:xfrm>
          <a:custGeom>
            <a:avLst/>
            <a:gdLst/>
            <a:ahLst/>
            <a:cxnLst/>
            <a:rect r="r" b="b" t="t" l="l"/>
            <a:pathLst>
              <a:path h="2256507" w="2256507">
                <a:moveTo>
                  <a:pt x="0" y="0"/>
                </a:moveTo>
                <a:lnTo>
                  <a:pt x="2256507" y="0"/>
                </a:lnTo>
                <a:lnTo>
                  <a:pt x="2256507" y="2256508"/>
                </a:lnTo>
                <a:lnTo>
                  <a:pt x="0" y="22565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058373" y="7631057"/>
            <a:ext cx="2256507" cy="2256507"/>
          </a:xfrm>
          <a:custGeom>
            <a:avLst/>
            <a:gdLst/>
            <a:ahLst/>
            <a:cxnLst/>
            <a:rect r="r" b="b" t="t" l="l"/>
            <a:pathLst>
              <a:path h="2256507" w="2256507">
                <a:moveTo>
                  <a:pt x="0" y="0"/>
                </a:moveTo>
                <a:lnTo>
                  <a:pt x="2256507" y="0"/>
                </a:lnTo>
                <a:lnTo>
                  <a:pt x="2256507" y="2256508"/>
                </a:lnTo>
                <a:lnTo>
                  <a:pt x="0" y="22565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314880" y="7631057"/>
            <a:ext cx="2256507" cy="2256507"/>
          </a:xfrm>
          <a:custGeom>
            <a:avLst/>
            <a:gdLst/>
            <a:ahLst/>
            <a:cxnLst/>
            <a:rect r="r" b="b" t="t" l="l"/>
            <a:pathLst>
              <a:path h="2256507" w="2256507">
                <a:moveTo>
                  <a:pt x="0" y="0"/>
                </a:moveTo>
                <a:lnTo>
                  <a:pt x="2256507" y="0"/>
                </a:lnTo>
                <a:lnTo>
                  <a:pt x="2256507" y="2256508"/>
                </a:lnTo>
                <a:lnTo>
                  <a:pt x="0" y="22565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571387" y="7602482"/>
            <a:ext cx="2256507" cy="2256507"/>
          </a:xfrm>
          <a:custGeom>
            <a:avLst/>
            <a:gdLst/>
            <a:ahLst/>
            <a:cxnLst/>
            <a:rect r="r" b="b" t="t" l="l"/>
            <a:pathLst>
              <a:path h="2256507" w="2256507">
                <a:moveTo>
                  <a:pt x="0" y="0"/>
                </a:moveTo>
                <a:lnTo>
                  <a:pt x="2256507" y="0"/>
                </a:lnTo>
                <a:lnTo>
                  <a:pt x="2256507" y="2256508"/>
                </a:lnTo>
                <a:lnTo>
                  <a:pt x="0" y="22565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827894" y="7602482"/>
            <a:ext cx="2256507" cy="2256507"/>
          </a:xfrm>
          <a:custGeom>
            <a:avLst/>
            <a:gdLst/>
            <a:ahLst/>
            <a:cxnLst/>
            <a:rect r="r" b="b" t="t" l="l"/>
            <a:pathLst>
              <a:path h="2256507" w="2256507">
                <a:moveTo>
                  <a:pt x="0" y="0"/>
                </a:moveTo>
                <a:lnTo>
                  <a:pt x="2256507" y="0"/>
                </a:lnTo>
                <a:lnTo>
                  <a:pt x="2256507" y="2256508"/>
                </a:lnTo>
                <a:lnTo>
                  <a:pt x="0" y="22565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1422" y="7680115"/>
            <a:ext cx="1903912" cy="67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Hyb</a:t>
            </a: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rid AI Engine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9992" y="8491919"/>
            <a:ext cx="1938860" cy="14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  <a:spcBef>
                <a:spcPct val="0"/>
              </a:spcBef>
            </a:pP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C</a:t>
            </a: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ombines Knowledge Graph + RAG for accurate and contextual responses.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65150" y="7670590"/>
            <a:ext cx="1903912" cy="67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Geo-Tempo</a:t>
            </a: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ral Query Support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59659" y="7651540"/>
            <a:ext cx="1903912" cy="67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Conve</a:t>
            </a: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rsational Data Access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82841" y="7651540"/>
            <a:ext cx="1903912" cy="67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Multi-Fo</a:t>
            </a: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rmat Intelligence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34671" y="7651540"/>
            <a:ext cx="1903912" cy="10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Adaptive Responses by Use</a:t>
            </a: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 Type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86330" y="7632490"/>
            <a:ext cx="1903912" cy="67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Real-T</a:t>
            </a: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ime Satellite Alerts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52362" y="7592957"/>
            <a:ext cx="1903912" cy="10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</a:t>
            </a: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roactive Query Clarification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008869" y="7564382"/>
            <a:ext cx="1903912" cy="67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Mult</a:t>
            </a:r>
            <a:r>
              <a:rPr lang="en-US" b="true" sz="2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ilingual Support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94071" y="8495201"/>
            <a:ext cx="1956412" cy="14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  <a:spcBef>
                <a:spcPct val="0"/>
              </a:spcBef>
            </a:pP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U</a:t>
            </a: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nderstands location + time queries like "rainfall in Assam last month".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736092" y="8402427"/>
            <a:ext cx="1827480" cy="14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  <a:spcBef>
                <a:spcPct val="0"/>
              </a:spcBef>
            </a:pP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Tur</a:t>
            </a: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ns complex data into simple chat — no need for 15+ menu clicks.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68541" y="8521490"/>
            <a:ext cx="2018212" cy="118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  <a:spcBef>
                <a:spcPct val="0"/>
              </a:spcBef>
            </a:pP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R</a:t>
            </a: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eads PDFs, DOCX, XLSX, ARIA-tagged HTML in one unified system.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77521" y="8815494"/>
            <a:ext cx="2018212" cy="118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  <a:spcBef>
                <a:spcPct val="0"/>
              </a:spcBef>
            </a:pP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Sc</a:t>
            </a: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ientist, farmer, or journalist — gets info in their preferred format.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13939" y="8540540"/>
            <a:ext cx="1848696" cy="118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  <a:spcBef>
                <a:spcPct val="0"/>
              </a:spcBef>
            </a:pP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I</a:t>
            </a: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ntegrates live feeds for disasters like floods, fires, cyclones.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6637" y="8624994"/>
            <a:ext cx="2018212" cy="118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  <a:spcBef>
                <a:spcPct val="0"/>
              </a:spcBef>
            </a:pP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S</a:t>
            </a: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mart follow-ups for vague questions — boosts user experience.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066019" y="8495201"/>
            <a:ext cx="2018212" cy="118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  <a:spcBef>
                <a:spcPct val="0"/>
              </a:spcBef>
            </a:pP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W</a:t>
            </a:r>
            <a:r>
              <a:rPr lang="en-US" sz="17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orks in English and Hindi to reach both experts and rural users.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16" cy="10287002"/>
            <a:chOff x="0" y="0"/>
            <a:chExt cx="24384021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274683" y="1997632"/>
            <a:ext cx="1738635" cy="1736462"/>
          </a:xfrm>
          <a:custGeom>
            <a:avLst/>
            <a:gdLst/>
            <a:ahLst/>
            <a:cxnLst/>
            <a:rect r="r" b="b" t="t" l="l"/>
            <a:pathLst>
              <a:path h="1736462" w="1738635">
                <a:moveTo>
                  <a:pt x="0" y="0"/>
                </a:moveTo>
                <a:lnTo>
                  <a:pt x="1738634" y="0"/>
                </a:lnTo>
                <a:lnTo>
                  <a:pt x="1738634" y="1736462"/>
                </a:lnTo>
                <a:lnTo>
                  <a:pt x="0" y="1736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74683" y="7198388"/>
            <a:ext cx="1738635" cy="1736462"/>
          </a:xfrm>
          <a:custGeom>
            <a:avLst/>
            <a:gdLst/>
            <a:ahLst/>
            <a:cxnLst/>
            <a:rect r="r" b="b" t="t" l="l"/>
            <a:pathLst>
              <a:path h="1736462" w="1738635">
                <a:moveTo>
                  <a:pt x="0" y="0"/>
                </a:moveTo>
                <a:lnTo>
                  <a:pt x="1738634" y="0"/>
                </a:lnTo>
                <a:lnTo>
                  <a:pt x="1738634" y="1736462"/>
                </a:lnTo>
                <a:lnTo>
                  <a:pt x="0" y="1736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92814" y="4611595"/>
            <a:ext cx="1738635" cy="1736462"/>
          </a:xfrm>
          <a:custGeom>
            <a:avLst/>
            <a:gdLst/>
            <a:ahLst/>
            <a:cxnLst/>
            <a:rect r="r" b="b" t="t" l="l"/>
            <a:pathLst>
              <a:path h="1736462" w="1738635">
                <a:moveTo>
                  <a:pt x="0" y="0"/>
                </a:moveTo>
                <a:lnTo>
                  <a:pt x="1738635" y="0"/>
                </a:lnTo>
                <a:lnTo>
                  <a:pt x="1738635" y="1736461"/>
                </a:lnTo>
                <a:lnTo>
                  <a:pt x="0" y="17364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56551" y="4596495"/>
            <a:ext cx="1738635" cy="1736462"/>
          </a:xfrm>
          <a:custGeom>
            <a:avLst/>
            <a:gdLst/>
            <a:ahLst/>
            <a:cxnLst/>
            <a:rect r="r" b="b" t="t" l="l"/>
            <a:pathLst>
              <a:path h="1736462" w="1738635">
                <a:moveTo>
                  <a:pt x="0" y="0"/>
                </a:moveTo>
                <a:lnTo>
                  <a:pt x="1738635" y="0"/>
                </a:lnTo>
                <a:lnTo>
                  <a:pt x="1738635" y="1736461"/>
                </a:lnTo>
                <a:lnTo>
                  <a:pt x="0" y="17364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68168" y="2647783"/>
            <a:ext cx="1738635" cy="1736462"/>
          </a:xfrm>
          <a:custGeom>
            <a:avLst/>
            <a:gdLst/>
            <a:ahLst/>
            <a:cxnLst/>
            <a:rect r="r" b="b" t="t" l="l"/>
            <a:pathLst>
              <a:path h="1736462" w="1738635">
                <a:moveTo>
                  <a:pt x="0" y="0"/>
                </a:moveTo>
                <a:lnTo>
                  <a:pt x="1738634" y="0"/>
                </a:lnTo>
                <a:lnTo>
                  <a:pt x="1738634" y="1736461"/>
                </a:lnTo>
                <a:lnTo>
                  <a:pt x="0" y="17364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30094" y="6695356"/>
            <a:ext cx="1738635" cy="1736462"/>
          </a:xfrm>
          <a:custGeom>
            <a:avLst/>
            <a:gdLst/>
            <a:ahLst/>
            <a:cxnLst/>
            <a:rect r="r" b="b" t="t" l="l"/>
            <a:pathLst>
              <a:path h="1736462" w="1738635">
                <a:moveTo>
                  <a:pt x="0" y="0"/>
                </a:moveTo>
                <a:lnTo>
                  <a:pt x="1738635" y="0"/>
                </a:lnTo>
                <a:lnTo>
                  <a:pt x="1738635" y="1736462"/>
                </a:lnTo>
                <a:lnTo>
                  <a:pt x="0" y="1736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34048" y="6570454"/>
            <a:ext cx="1738635" cy="1736462"/>
          </a:xfrm>
          <a:custGeom>
            <a:avLst/>
            <a:gdLst/>
            <a:ahLst/>
            <a:cxnLst/>
            <a:rect r="r" b="b" t="t" l="l"/>
            <a:pathLst>
              <a:path h="1736462" w="1738635">
                <a:moveTo>
                  <a:pt x="0" y="0"/>
                </a:moveTo>
                <a:lnTo>
                  <a:pt x="1738634" y="0"/>
                </a:lnTo>
                <a:lnTo>
                  <a:pt x="1738634" y="1736461"/>
                </a:lnTo>
                <a:lnTo>
                  <a:pt x="0" y="17364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181198" y="2685533"/>
            <a:ext cx="1738635" cy="1736462"/>
          </a:xfrm>
          <a:custGeom>
            <a:avLst/>
            <a:gdLst/>
            <a:ahLst/>
            <a:cxnLst/>
            <a:rect r="r" b="b" t="t" l="l"/>
            <a:pathLst>
              <a:path h="1736462" w="1738635">
                <a:moveTo>
                  <a:pt x="0" y="0"/>
                </a:moveTo>
                <a:lnTo>
                  <a:pt x="1738634" y="0"/>
                </a:lnTo>
                <a:lnTo>
                  <a:pt x="1738634" y="1736461"/>
                </a:lnTo>
                <a:lnTo>
                  <a:pt x="0" y="17364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10714" y="3166342"/>
            <a:ext cx="1279601" cy="774842"/>
          </a:xfrm>
          <a:custGeom>
            <a:avLst/>
            <a:gdLst/>
            <a:ahLst/>
            <a:cxnLst/>
            <a:rect r="r" b="b" t="t" l="l"/>
            <a:pathLst>
              <a:path h="774842" w="1279601">
                <a:moveTo>
                  <a:pt x="0" y="0"/>
                </a:moveTo>
                <a:lnTo>
                  <a:pt x="1279602" y="0"/>
                </a:lnTo>
                <a:lnTo>
                  <a:pt x="1279602" y="774843"/>
                </a:lnTo>
                <a:lnTo>
                  <a:pt x="0" y="7748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647952" y="4960117"/>
            <a:ext cx="1355833" cy="1158621"/>
          </a:xfrm>
          <a:custGeom>
            <a:avLst/>
            <a:gdLst/>
            <a:ahLst/>
            <a:cxnLst/>
            <a:rect r="r" b="b" t="t" l="l"/>
            <a:pathLst>
              <a:path h="1158621" w="1355833">
                <a:moveTo>
                  <a:pt x="0" y="0"/>
                </a:moveTo>
                <a:lnTo>
                  <a:pt x="1355833" y="0"/>
                </a:lnTo>
                <a:lnTo>
                  <a:pt x="1355833" y="1158621"/>
                </a:lnTo>
                <a:lnTo>
                  <a:pt x="0" y="11586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95085" y="7020006"/>
            <a:ext cx="816559" cy="920302"/>
          </a:xfrm>
          <a:custGeom>
            <a:avLst/>
            <a:gdLst/>
            <a:ahLst/>
            <a:cxnLst/>
            <a:rect r="r" b="b" t="t" l="l"/>
            <a:pathLst>
              <a:path h="920302" w="816559">
                <a:moveTo>
                  <a:pt x="0" y="0"/>
                </a:moveTo>
                <a:lnTo>
                  <a:pt x="816559" y="0"/>
                </a:lnTo>
                <a:lnTo>
                  <a:pt x="816559" y="920303"/>
                </a:lnTo>
                <a:lnTo>
                  <a:pt x="0" y="9203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618434" y="7563587"/>
            <a:ext cx="1065908" cy="868231"/>
          </a:xfrm>
          <a:custGeom>
            <a:avLst/>
            <a:gdLst/>
            <a:ahLst/>
            <a:cxnLst/>
            <a:rect r="r" b="b" t="t" l="l"/>
            <a:pathLst>
              <a:path h="868231" w="1065908">
                <a:moveTo>
                  <a:pt x="0" y="0"/>
                </a:moveTo>
                <a:lnTo>
                  <a:pt x="1065908" y="0"/>
                </a:lnTo>
                <a:lnTo>
                  <a:pt x="1065908" y="868231"/>
                </a:lnTo>
                <a:lnTo>
                  <a:pt x="0" y="8682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586244" y="6839186"/>
            <a:ext cx="1375888" cy="1227433"/>
          </a:xfrm>
          <a:custGeom>
            <a:avLst/>
            <a:gdLst/>
            <a:ahLst/>
            <a:cxnLst/>
            <a:rect r="r" b="b" t="t" l="l"/>
            <a:pathLst>
              <a:path h="1227433" w="1375888">
                <a:moveTo>
                  <a:pt x="0" y="0"/>
                </a:moveTo>
                <a:lnTo>
                  <a:pt x="1375887" y="0"/>
                </a:lnTo>
                <a:lnTo>
                  <a:pt x="1375887" y="1227433"/>
                </a:lnTo>
                <a:lnTo>
                  <a:pt x="0" y="12274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455137" y="4972831"/>
            <a:ext cx="1013989" cy="1013989"/>
          </a:xfrm>
          <a:custGeom>
            <a:avLst/>
            <a:gdLst/>
            <a:ahLst/>
            <a:cxnLst/>
            <a:rect r="r" b="b" t="t" l="l"/>
            <a:pathLst>
              <a:path h="1013989" w="1013989">
                <a:moveTo>
                  <a:pt x="0" y="0"/>
                </a:moveTo>
                <a:lnTo>
                  <a:pt x="1013989" y="0"/>
                </a:lnTo>
                <a:lnTo>
                  <a:pt x="1013989" y="1013989"/>
                </a:lnTo>
                <a:lnTo>
                  <a:pt x="0" y="101398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672212" y="2910619"/>
            <a:ext cx="1203951" cy="1149226"/>
          </a:xfrm>
          <a:custGeom>
            <a:avLst/>
            <a:gdLst/>
            <a:ahLst/>
            <a:cxnLst/>
            <a:rect r="r" b="b" t="t" l="l"/>
            <a:pathLst>
              <a:path h="1149226" w="1203951">
                <a:moveTo>
                  <a:pt x="0" y="0"/>
                </a:moveTo>
                <a:lnTo>
                  <a:pt x="1203951" y="0"/>
                </a:lnTo>
                <a:lnTo>
                  <a:pt x="1203951" y="1149226"/>
                </a:lnTo>
                <a:lnTo>
                  <a:pt x="0" y="114922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557398" y="2302731"/>
            <a:ext cx="1173191" cy="1126264"/>
          </a:xfrm>
          <a:custGeom>
            <a:avLst/>
            <a:gdLst/>
            <a:ahLst/>
            <a:cxnLst/>
            <a:rect r="r" b="b" t="t" l="l"/>
            <a:pathLst>
              <a:path h="1126264" w="1173191">
                <a:moveTo>
                  <a:pt x="0" y="0"/>
                </a:moveTo>
                <a:lnTo>
                  <a:pt x="1173191" y="0"/>
                </a:lnTo>
                <a:lnTo>
                  <a:pt x="1173191" y="1126264"/>
                </a:lnTo>
                <a:lnTo>
                  <a:pt x="0" y="112626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681472" y="4876688"/>
            <a:ext cx="1287378" cy="1287378"/>
          </a:xfrm>
          <a:custGeom>
            <a:avLst/>
            <a:gdLst/>
            <a:ahLst/>
            <a:cxnLst/>
            <a:rect r="r" b="b" t="t" l="l"/>
            <a:pathLst>
              <a:path h="1287378" w="1287378">
                <a:moveTo>
                  <a:pt x="0" y="0"/>
                </a:moveTo>
                <a:lnTo>
                  <a:pt x="1287379" y="0"/>
                </a:lnTo>
                <a:lnTo>
                  <a:pt x="1287379" y="1287378"/>
                </a:lnTo>
                <a:lnTo>
                  <a:pt x="0" y="128737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-1654569">
            <a:off x="5319434" y="2451069"/>
            <a:ext cx="961394" cy="797083"/>
          </a:xfrm>
          <a:custGeom>
            <a:avLst/>
            <a:gdLst/>
            <a:ahLst/>
            <a:cxnLst/>
            <a:rect r="r" b="b" t="t" l="l"/>
            <a:pathLst>
              <a:path h="797083" w="961394">
                <a:moveTo>
                  <a:pt x="961394" y="0"/>
                </a:moveTo>
                <a:lnTo>
                  <a:pt x="0" y="0"/>
                </a:lnTo>
                <a:lnTo>
                  <a:pt x="0" y="797082"/>
                </a:lnTo>
                <a:lnTo>
                  <a:pt x="961394" y="797082"/>
                </a:lnTo>
                <a:lnTo>
                  <a:pt x="961394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666133" y="49493"/>
            <a:ext cx="14955750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List of features offered by the solution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66133" y="1491776"/>
            <a:ext cx="4632209" cy="141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Natural Language Query Support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Users can ask questi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ons like “satellite images for Kerala flood” in plain English or Hindi.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185" y="3676944"/>
            <a:ext cx="5113843" cy="141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Hybrid AI Processing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Uses b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oth Knowledge Graph and Retrieval-Augmented Generation (RAG) for smart, contextual answers.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2020" y="6282010"/>
            <a:ext cx="4142328" cy="141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Multi-format Data Ingestion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Crawls and 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understands data from PDFs, DOCX, XLSX, FAQs, and ARIA-tagged web content.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9622" y="8746208"/>
            <a:ext cx="5989451" cy="107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Geo-Temporal Query Engine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Understands q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ueries based on location + time (e.g., “rainfall in Gujarat last August”).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74188" y="8746208"/>
            <a:ext cx="5736444" cy="107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Conversational UI Chatbot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Smart, multi-t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urn conversations with context memory and follow-up clarification.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23917" y="5957360"/>
            <a:ext cx="4427851" cy="141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Live Satellite Feed Integration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P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ulls in real-time data and overlays it with historical maps for dynamic insights.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69699" y="3280555"/>
            <a:ext cx="3683378" cy="141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User-Adaptive Responses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Cust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omizes answers depending on whether the user is a farmer, scientist, or journalist.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55137" y="1295614"/>
            <a:ext cx="4625102" cy="107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Multilingual Support (EN + HI)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All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ows users from diverse backgrounds to interact effortlessly.</a:t>
            </a:r>
          </a:p>
        </p:txBody>
      </p:sp>
      <p:sp>
        <p:nvSpPr>
          <p:cNvPr name="Freeform 31" id="31"/>
          <p:cNvSpPr/>
          <p:nvPr/>
        </p:nvSpPr>
        <p:spPr>
          <a:xfrm flipH="true" flipV="false" rot="-1654569">
            <a:off x="4365271" y="4773746"/>
            <a:ext cx="961394" cy="797083"/>
          </a:xfrm>
          <a:custGeom>
            <a:avLst/>
            <a:gdLst/>
            <a:ahLst/>
            <a:cxnLst/>
            <a:rect r="r" b="b" t="t" l="l"/>
            <a:pathLst>
              <a:path h="797083" w="961394">
                <a:moveTo>
                  <a:pt x="961393" y="0"/>
                </a:moveTo>
                <a:lnTo>
                  <a:pt x="0" y="0"/>
                </a:lnTo>
                <a:lnTo>
                  <a:pt x="0" y="797083"/>
                </a:lnTo>
                <a:lnTo>
                  <a:pt x="961393" y="797083"/>
                </a:lnTo>
                <a:lnTo>
                  <a:pt x="961393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true" flipV="true" rot="2442660">
            <a:off x="4589049" y="6862285"/>
            <a:ext cx="1584899" cy="1314025"/>
          </a:xfrm>
          <a:custGeom>
            <a:avLst/>
            <a:gdLst/>
            <a:ahLst/>
            <a:cxnLst/>
            <a:rect r="r" b="b" t="t" l="l"/>
            <a:pathLst>
              <a:path h="1314025" w="1584899">
                <a:moveTo>
                  <a:pt x="1584898" y="1314026"/>
                </a:moveTo>
                <a:lnTo>
                  <a:pt x="0" y="1314026"/>
                </a:lnTo>
                <a:lnTo>
                  <a:pt x="0" y="0"/>
                </a:lnTo>
                <a:lnTo>
                  <a:pt x="1584898" y="0"/>
                </a:lnTo>
                <a:lnTo>
                  <a:pt x="1584898" y="1314026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true" rot="646650">
            <a:off x="7373304" y="8670785"/>
            <a:ext cx="1584899" cy="1314025"/>
          </a:xfrm>
          <a:custGeom>
            <a:avLst/>
            <a:gdLst/>
            <a:ahLst/>
            <a:cxnLst/>
            <a:rect r="r" b="b" t="t" l="l"/>
            <a:pathLst>
              <a:path h="1314025" w="1584899">
                <a:moveTo>
                  <a:pt x="1584899" y="1314025"/>
                </a:moveTo>
                <a:lnTo>
                  <a:pt x="0" y="1314025"/>
                </a:lnTo>
                <a:lnTo>
                  <a:pt x="0" y="0"/>
                </a:lnTo>
                <a:lnTo>
                  <a:pt x="1584899" y="0"/>
                </a:lnTo>
                <a:lnTo>
                  <a:pt x="1584899" y="1314025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true" rot="-6931202">
            <a:off x="11962221" y="8033277"/>
            <a:ext cx="961394" cy="797083"/>
          </a:xfrm>
          <a:custGeom>
            <a:avLst/>
            <a:gdLst/>
            <a:ahLst/>
            <a:cxnLst/>
            <a:rect r="r" b="b" t="t" l="l"/>
            <a:pathLst>
              <a:path h="797083" w="961394">
                <a:moveTo>
                  <a:pt x="961393" y="797082"/>
                </a:moveTo>
                <a:lnTo>
                  <a:pt x="0" y="797082"/>
                </a:lnTo>
                <a:lnTo>
                  <a:pt x="0" y="0"/>
                </a:lnTo>
                <a:lnTo>
                  <a:pt x="961393" y="0"/>
                </a:lnTo>
                <a:lnTo>
                  <a:pt x="961393" y="797082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true" rot="-6931202">
            <a:off x="12840933" y="5302746"/>
            <a:ext cx="961394" cy="797083"/>
          </a:xfrm>
          <a:custGeom>
            <a:avLst/>
            <a:gdLst/>
            <a:ahLst/>
            <a:cxnLst/>
            <a:rect r="r" b="b" t="t" l="l"/>
            <a:pathLst>
              <a:path h="797083" w="961394">
                <a:moveTo>
                  <a:pt x="961394" y="797082"/>
                </a:moveTo>
                <a:lnTo>
                  <a:pt x="0" y="797082"/>
                </a:lnTo>
                <a:lnTo>
                  <a:pt x="0" y="0"/>
                </a:lnTo>
                <a:lnTo>
                  <a:pt x="961394" y="0"/>
                </a:lnTo>
                <a:lnTo>
                  <a:pt x="961394" y="797082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true" flipV="true" rot="-8200592">
            <a:off x="12410554" y="3067733"/>
            <a:ext cx="1278592" cy="1060069"/>
          </a:xfrm>
          <a:custGeom>
            <a:avLst/>
            <a:gdLst/>
            <a:ahLst/>
            <a:cxnLst/>
            <a:rect r="r" b="b" t="t" l="l"/>
            <a:pathLst>
              <a:path h="1060069" w="1278592">
                <a:moveTo>
                  <a:pt x="1278592" y="1060069"/>
                </a:moveTo>
                <a:lnTo>
                  <a:pt x="0" y="1060069"/>
                </a:lnTo>
                <a:lnTo>
                  <a:pt x="0" y="0"/>
                </a:lnTo>
                <a:lnTo>
                  <a:pt x="1278592" y="0"/>
                </a:lnTo>
                <a:lnTo>
                  <a:pt x="1278592" y="1060069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true" flipV="true" rot="-9802142">
            <a:off x="9967921" y="1656155"/>
            <a:ext cx="1249884" cy="1036268"/>
          </a:xfrm>
          <a:custGeom>
            <a:avLst/>
            <a:gdLst/>
            <a:ahLst/>
            <a:cxnLst/>
            <a:rect r="r" b="b" t="t" l="l"/>
            <a:pathLst>
              <a:path h="1036268" w="1249884">
                <a:moveTo>
                  <a:pt x="1249884" y="1036267"/>
                </a:moveTo>
                <a:lnTo>
                  <a:pt x="0" y="1036267"/>
                </a:lnTo>
                <a:lnTo>
                  <a:pt x="0" y="0"/>
                </a:lnTo>
                <a:lnTo>
                  <a:pt x="1249884" y="0"/>
                </a:lnTo>
                <a:lnTo>
                  <a:pt x="1249884" y="1036267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16" cy="10287002"/>
            <a:chOff x="0" y="0"/>
            <a:chExt cx="24384021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94614" y="1298340"/>
            <a:ext cx="16841623" cy="8737871"/>
          </a:xfrm>
          <a:custGeom>
            <a:avLst/>
            <a:gdLst/>
            <a:ahLst/>
            <a:cxnLst/>
            <a:rect r="r" b="b" t="t" l="l"/>
            <a:pathLst>
              <a:path h="8737871" w="16841623">
                <a:moveTo>
                  <a:pt x="0" y="0"/>
                </a:moveTo>
                <a:lnTo>
                  <a:pt x="16841622" y="0"/>
                </a:lnTo>
                <a:lnTo>
                  <a:pt x="16841622" y="8737871"/>
                </a:lnTo>
                <a:lnTo>
                  <a:pt x="0" y="8737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728" r="0" b="-26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66133" y="180867"/>
            <a:ext cx="14955750" cy="111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Process flow diagram</a:t>
            </a:r>
          </a:p>
          <a:p>
            <a:pPr algn="l">
              <a:lnSpc>
                <a:spcPts val="441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16" cy="10287002"/>
            <a:chOff x="0" y="0"/>
            <a:chExt cx="24384021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14825" y="1732800"/>
            <a:ext cx="14955750" cy="50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Wireframes/Mock diagrams of the proposed solution (optional)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14825" y="2849686"/>
            <a:ext cx="6636713" cy="4587628"/>
          </a:xfrm>
          <a:custGeom>
            <a:avLst/>
            <a:gdLst/>
            <a:ahLst/>
            <a:cxnLst/>
            <a:rect r="r" b="b" t="t" l="l"/>
            <a:pathLst>
              <a:path h="4587628" w="6636713">
                <a:moveTo>
                  <a:pt x="0" y="0"/>
                </a:moveTo>
                <a:lnTo>
                  <a:pt x="6636713" y="0"/>
                </a:lnTo>
                <a:lnTo>
                  <a:pt x="6636713" y="4587628"/>
                </a:lnTo>
                <a:lnTo>
                  <a:pt x="0" y="4587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245942">
            <a:off x="5722905" y="5451965"/>
            <a:ext cx="460197" cy="796303"/>
          </a:xfrm>
          <a:custGeom>
            <a:avLst/>
            <a:gdLst/>
            <a:ahLst/>
            <a:cxnLst/>
            <a:rect r="r" b="b" t="t" l="l"/>
            <a:pathLst>
              <a:path h="796303" w="460197">
                <a:moveTo>
                  <a:pt x="0" y="0"/>
                </a:moveTo>
                <a:lnTo>
                  <a:pt x="460197" y="0"/>
                </a:lnTo>
                <a:lnTo>
                  <a:pt x="460197" y="796303"/>
                </a:lnTo>
                <a:lnTo>
                  <a:pt x="0" y="7963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22399" y="2744143"/>
            <a:ext cx="6814042" cy="4693171"/>
          </a:xfrm>
          <a:custGeom>
            <a:avLst/>
            <a:gdLst/>
            <a:ahLst/>
            <a:cxnLst/>
            <a:rect r="r" b="b" t="t" l="l"/>
            <a:pathLst>
              <a:path h="4693171" w="6814042">
                <a:moveTo>
                  <a:pt x="0" y="0"/>
                </a:moveTo>
                <a:lnTo>
                  <a:pt x="6814042" y="0"/>
                </a:lnTo>
                <a:lnTo>
                  <a:pt x="6814042" y="4693171"/>
                </a:lnTo>
                <a:lnTo>
                  <a:pt x="0" y="4693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78116" y="7523782"/>
            <a:ext cx="3910132" cy="33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Chatbot Option at MOSDAC Portal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78919" y="7523782"/>
            <a:ext cx="2301002" cy="33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Overview of Chatbot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16" cy="10287002"/>
            <a:chOff x="0" y="0"/>
            <a:chExt cx="24384021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61787" y="1246822"/>
            <a:ext cx="15997513" cy="8753190"/>
          </a:xfrm>
          <a:custGeom>
            <a:avLst/>
            <a:gdLst/>
            <a:ahLst/>
            <a:cxnLst/>
            <a:rect r="r" b="b" t="t" l="l"/>
            <a:pathLst>
              <a:path h="8753190" w="15997513">
                <a:moveTo>
                  <a:pt x="0" y="0"/>
                </a:moveTo>
                <a:lnTo>
                  <a:pt x="15997513" y="0"/>
                </a:lnTo>
                <a:lnTo>
                  <a:pt x="15997513" y="8753190"/>
                </a:lnTo>
                <a:lnTo>
                  <a:pt x="0" y="87531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01" r="0" b="-140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66133" y="191452"/>
            <a:ext cx="14955750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Architecture diagram of the proposed solution</a:t>
            </a:r>
          </a:p>
          <a:p>
            <a:pPr algn="l">
              <a:lnSpc>
                <a:spcPts val="386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53065"/>
            <a:ext cx="18288016" cy="10287002"/>
            <a:chOff x="0" y="0"/>
            <a:chExt cx="24384021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946676" y="1310289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0" y="0"/>
                </a:moveTo>
                <a:lnTo>
                  <a:pt x="2857532" y="0"/>
                </a:lnTo>
                <a:lnTo>
                  <a:pt x="2857532" y="1197216"/>
                </a:lnTo>
                <a:lnTo>
                  <a:pt x="0" y="1197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9144000" y="1377553"/>
            <a:ext cx="0" cy="83458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912835" y="1690774"/>
            <a:ext cx="462330" cy="462330"/>
          </a:xfrm>
          <a:custGeom>
            <a:avLst/>
            <a:gdLst/>
            <a:ahLst/>
            <a:cxnLst/>
            <a:rect r="r" b="b" t="t" l="l"/>
            <a:pathLst>
              <a:path h="462330" w="462330">
                <a:moveTo>
                  <a:pt x="0" y="0"/>
                </a:moveTo>
                <a:lnTo>
                  <a:pt x="462330" y="0"/>
                </a:lnTo>
                <a:lnTo>
                  <a:pt x="462330" y="462330"/>
                </a:lnTo>
                <a:lnTo>
                  <a:pt x="0" y="46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12835" y="2343604"/>
            <a:ext cx="462330" cy="462330"/>
          </a:xfrm>
          <a:custGeom>
            <a:avLst/>
            <a:gdLst/>
            <a:ahLst/>
            <a:cxnLst/>
            <a:rect r="r" b="b" t="t" l="l"/>
            <a:pathLst>
              <a:path h="462330" w="462330">
                <a:moveTo>
                  <a:pt x="0" y="0"/>
                </a:moveTo>
                <a:lnTo>
                  <a:pt x="462330" y="0"/>
                </a:lnTo>
                <a:lnTo>
                  <a:pt x="462330" y="462330"/>
                </a:lnTo>
                <a:lnTo>
                  <a:pt x="0" y="462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12835" y="3053584"/>
            <a:ext cx="462330" cy="462330"/>
          </a:xfrm>
          <a:custGeom>
            <a:avLst/>
            <a:gdLst/>
            <a:ahLst/>
            <a:cxnLst/>
            <a:rect r="r" b="b" t="t" l="l"/>
            <a:pathLst>
              <a:path h="462330" w="462330">
                <a:moveTo>
                  <a:pt x="0" y="0"/>
                </a:moveTo>
                <a:lnTo>
                  <a:pt x="462330" y="0"/>
                </a:lnTo>
                <a:lnTo>
                  <a:pt x="462330" y="462330"/>
                </a:lnTo>
                <a:lnTo>
                  <a:pt x="0" y="4623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12835" y="3868339"/>
            <a:ext cx="462330" cy="462330"/>
          </a:xfrm>
          <a:custGeom>
            <a:avLst/>
            <a:gdLst/>
            <a:ahLst/>
            <a:cxnLst/>
            <a:rect r="r" b="b" t="t" l="l"/>
            <a:pathLst>
              <a:path h="462330" w="462330">
                <a:moveTo>
                  <a:pt x="0" y="0"/>
                </a:moveTo>
                <a:lnTo>
                  <a:pt x="462330" y="0"/>
                </a:lnTo>
                <a:lnTo>
                  <a:pt x="462330" y="462330"/>
                </a:lnTo>
                <a:lnTo>
                  <a:pt x="0" y="4623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12835" y="4721194"/>
            <a:ext cx="462330" cy="462330"/>
          </a:xfrm>
          <a:custGeom>
            <a:avLst/>
            <a:gdLst/>
            <a:ahLst/>
            <a:cxnLst/>
            <a:rect r="r" b="b" t="t" l="l"/>
            <a:pathLst>
              <a:path h="462330" w="462330">
                <a:moveTo>
                  <a:pt x="0" y="0"/>
                </a:moveTo>
                <a:lnTo>
                  <a:pt x="462330" y="0"/>
                </a:lnTo>
                <a:lnTo>
                  <a:pt x="462330" y="462330"/>
                </a:lnTo>
                <a:lnTo>
                  <a:pt x="0" y="46233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912843" y="5564524"/>
            <a:ext cx="462330" cy="462330"/>
          </a:xfrm>
          <a:custGeom>
            <a:avLst/>
            <a:gdLst/>
            <a:ahLst/>
            <a:cxnLst/>
            <a:rect r="r" b="b" t="t" l="l"/>
            <a:pathLst>
              <a:path h="462330" w="462330">
                <a:moveTo>
                  <a:pt x="0" y="0"/>
                </a:moveTo>
                <a:lnTo>
                  <a:pt x="462330" y="0"/>
                </a:lnTo>
                <a:lnTo>
                  <a:pt x="462330" y="462330"/>
                </a:lnTo>
                <a:lnTo>
                  <a:pt x="0" y="4623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12843" y="6436429"/>
            <a:ext cx="462330" cy="462330"/>
          </a:xfrm>
          <a:custGeom>
            <a:avLst/>
            <a:gdLst/>
            <a:ahLst/>
            <a:cxnLst/>
            <a:rect r="r" b="b" t="t" l="l"/>
            <a:pathLst>
              <a:path h="462330" w="462330">
                <a:moveTo>
                  <a:pt x="0" y="0"/>
                </a:moveTo>
                <a:lnTo>
                  <a:pt x="462330" y="0"/>
                </a:lnTo>
                <a:lnTo>
                  <a:pt x="462330" y="462329"/>
                </a:lnTo>
                <a:lnTo>
                  <a:pt x="0" y="4623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12835" y="7194033"/>
            <a:ext cx="462330" cy="462330"/>
          </a:xfrm>
          <a:custGeom>
            <a:avLst/>
            <a:gdLst/>
            <a:ahLst/>
            <a:cxnLst/>
            <a:rect r="r" b="b" t="t" l="l"/>
            <a:pathLst>
              <a:path h="462330" w="462330">
                <a:moveTo>
                  <a:pt x="0" y="0"/>
                </a:moveTo>
                <a:lnTo>
                  <a:pt x="462330" y="0"/>
                </a:lnTo>
                <a:lnTo>
                  <a:pt x="462330" y="462330"/>
                </a:lnTo>
                <a:lnTo>
                  <a:pt x="0" y="46233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12843" y="7980213"/>
            <a:ext cx="462330" cy="462330"/>
          </a:xfrm>
          <a:custGeom>
            <a:avLst/>
            <a:gdLst/>
            <a:ahLst/>
            <a:cxnLst/>
            <a:rect r="r" b="b" t="t" l="l"/>
            <a:pathLst>
              <a:path h="462330" w="462330">
                <a:moveTo>
                  <a:pt x="0" y="0"/>
                </a:moveTo>
                <a:lnTo>
                  <a:pt x="462330" y="0"/>
                </a:lnTo>
                <a:lnTo>
                  <a:pt x="462330" y="462330"/>
                </a:lnTo>
                <a:lnTo>
                  <a:pt x="0" y="4623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912835" y="8766393"/>
            <a:ext cx="462330" cy="462330"/>
          </a:xfrm>
          <a:custGeom>
            <a:avLst/>
            <a:gdLst/>
            <a:ahLst/>
            <a:cxnLst/>
            <a:rect r="r" b="b" t="t" l="l"/>
            <a:pathLst>
              <a:path h="462330" w="462330">
                <a:moveTo>
                  <a:pt x="0" y="0"/>
                </a:moveTo>
                <a:lnTo>
                  <a:pt x="462330" y="0"/>
                </a:lnTo>
                <a:lnTo>
                  <a:pt x="462330" y="462330"/>
                </a:lnTo>
                <a:lnTo>
                  <a:pt x="0" y="46233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055303" y="1323331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0" y="0"/>
                </a:moveTo>
                <a:lnTo>
                  <a:pt x="2857532" y="0"/>
                </a:lnTo>
                <a:lnTo>
                  <a:pt x="2857532" y="1197216"/>
                </a:lnTo>
                <a:lnTo>
                  <a:pt x="0" y="1197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946676" y="2805934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0" y="0"/>
                </a:moveTo>
                <a:lnTo>
                  <a:pt x="2857532" y="0"/>
                </a:lnTo>
                <a:lnTo>
                  <a:pt x="2857532" y="1197216"/>
                </a:lnTo>
                <a:lnTo>
                  <a:pt x="0" y="1197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055303" y="2818977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0" y="0"/>
                </a:moveTo>
                <a:lnTo>
                  <a:pt x="2857532" y="0"/>
                </a:lnTo>
                <a:lnTo>
                  <a:pt x="2857532" y="1197216"/>
                </a:lnTo>
                <a:lnTo>
                  <a:pt x="0" y="1197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946676" y="4330518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0" y="0"/>
                </a:moveTo>
                <a:lnTo>
                  <a:pt x="2857532" y="0"/>
                </a:lnTo>
                <a:lnTo>
                  <a:pt x="2857532" y="1197216"/>
                </a:lnTo>
                <a:lnTo>
                  <a:pt x="0" y="1197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055303" y="4343560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0" y="0"/>
                </a:moveTo>
                <a:lnTo>
                  <a:pt x="2857532" y="0"/>
                </a:lnTo>
                <a:lnTo>
                  <a:pt x="2857532" y="1197217"/>
                </a:lnTo>
                <a:lnTo>
                  <a:pt x="0" y="1197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946676" y="6026854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0" y="0"/>
                </a:moveTo>
                <a:lnTo>
                  <a:pt x="2857532" y="0"/>
                </a:lnTo>
                <a:lnTo>
                  <a:pt x="2857532" y="1197216"/>
                </a:lnTo>
                <a:lnTo>
                  <a:pt x="0" y="1197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055303" y="6039896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0" y="0"/>
                </a:moveTo>
                <a:lnTo>
                  <a:pt x="2857532" y="0"/>
                </a:lnTo>
                <a:lnTo>
                  <a:pt x="2857532" y="1197216"/>
                </a:lnTo>
                <a:lnTo>
                  <a:pt x="0" y="1197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946676" y="7606249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0" y="0"/>
                </a:moveTo>
                <a:lnTo>
                  <a:pt x="2857532" y="0"/>
                </a:lnTo>
                <a:lnTo>
                  <a:pt x="2857532" y="1197216"/>
                </a:lnTo>
                <a:lnTo>
                  <a:pt x="0" y="1197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055303" y="7619291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0" y="0"/>
                </a:moveTo>
                <a:lnTo>
                  <a:pt x="2857532" y="0"/>
                </a:lnTo>
                <a:lnTo>
                  <a:pt x="2857532" y="1197217"/>
                </a:lnTo>
                <a:lnTo>
                  <a:pt x="0" y="1197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9372600" y="1969640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2857532" y="0"/>
                </a:moveTo>
                <a:lnTo>
                  <a:pt x="0" y="0"/>
                </a:lnTo>
                <a:lnTo>
                  <a:pt x="0" y="1197216"/>
                </a:lnTo>
                <a:lnTo>
                  <a:pt x="2857532" y="1197216"/>
                </a:lnTo>
                <a:lnTo>
                  <a:pt x="28575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11481227" y="1982682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2857532" y="0"/>
                </a:moveTo>
                <a:lnTo>
                  <a:pt x="0" y="0"/>
                </a:lnTo>
                <a:lnTo>
                  <a:pt x="0" y="1197217"/>
                </a:lnTo>
                <a:lnTo>
                  <a:pt x="2857532" y="1197217"/>
                </a:lnTo>
                <a:lnTo>
                  <a:pt x="28575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9375173" y="3515914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2857532" y="0"/>
                </a:moveTo>
                <a:lnTo>
                  <a:pt x="0" y="0"/>
                </a:lnTo>
                <a:lnTo>
                  <a:pt x="0" y="1197216"/>
                </a:lnTo>
                <a:lnTo>
                  <a:pt x="2857532" y="1197216"/>
                </a:lnTo>
                <a:lnTo>
                  <a:pt x="28575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11483800" y="3528956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2857532" y="0"/>
                </a:moveTo>
                <a:lnTo>
                  <a:pt x="0" y="0"/>
                </a:lnTo>
                <a:lnTo>
                  <a:pt x="0" y="1197217"/>
                </a:lnTo>
                <a:lnTo>
                  <a:pt x="2857532" y="1197217"/>
                </a:lnTo>
                <a:lnTo>
                  <a:pt x="28575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false" rot="0">
            <a:off x="9375173" y="5183524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2857532" y="0"/>
                </a:moveTo>
                <a:lnTo>
                  <a:pt x="0" y="0"/>
                </a:lnTo>
                <a:lnTo>
                  <a:pt x="0" y="1197216"/>
                </a:lnTo>
                <a:lnTo>
                  <a:pt x="2857532" y="1197216"/>
                </a:lnTo>
                <a:lnTo>
                  <a:pt x="28575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1483800" y="5196566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2857532" y="0"/>
                </a:moveTo>
                <a:lnTo>
                  <a:pt x="0" y="0"/>
                </a:lnTo>
                <a:lnTo>
                  <a:pt x="0" y="1197217"/>
                </a:lnTo>
                <a:lnTo>
                  <a:pt x="2857532" y="1197217"/>
                </a:lnTo>
                <a:lnTo>
                  <a:pt x="28575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0">
            <a:off x="9375173" y="6820069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2857532" y="0"/>
                </a:moveTo>
                <a:lnTo>
                  <a:pt x="0" y="0"/>
                </a:lnTo>
                <a:lnTo>
                  <a:pt x="0" y="1197216"/>
                </a:lnTo>
                <a:lnTo>
                  <a:pt x="2857532" y="1197216"/>
                </a:lnTo>
                <a:lnTo>
                  <a:pt x="28575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true" flipV="false" rot="0">
            <a:off x="11483800" y="6833111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2857532" y="0"/>
                </a:moveTo>
                <a:lnTo>
                  <a:pt x="0" y="0"/>
                </a:lnTo>
                <a:lnTo>
                  <a:pt x="0" y="1197217"/>
                </a:lnTo>
                <a:lnTo>
                  <a:pt x="2857532" y="1197217"/>
                </a:lnTo>
                <a:lnTo>
                  <a:pt x="28575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0">
            <a:off x="9375173" y="8392429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2857532" y="0"/>
                </a:moveTo>
                <a:lnTo>
                  <a:pt x="0" y="0"/>
                </a:lnTo>
                <a:lnTo>
                  <a:pt x="0" y="1197216"/>
                </a:lnTo>
                <a:lnTo>
                  <a:pt x="2857532" y="1197216"/>
                </a:lnTo>
                <a:lnTo>
                  <a:pt x="28575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false" rot="0">
            <a:off x="11483800" y="8405471"/>
            <a:ext cx="2857532" cy="1197216"/>
          </a:xfrm>
          <a:custGeom>
            <a:avLst/>
            <a:gdLst/>
            <a:ahLst/>
            <a:cxnLst/>
            <a:rect r="r" b="b" t="t" l="l"/>
            <a:pathLst>
              <a:path h="1197216" w="2857532">
                <a:moveTo>
                  <a:pt x="2857532" y="0"/>
                </a:moveTo>
                <a:lnTo>
                  <a:pt x="0" y="0"/>
                </a:lnTo>
                <a:lnTo>
                  <a:pt x="0" y="1197217"/>
                </a:lnTo>
                <a:lnTo>
                  <a:pt x="2857532" y="1197217"/>
                </a:lnTo>
                <a:lnTo>
                  <a:pt x="28575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154558" y="1377553"/>
            <a:ext cx="1015425" cy="1009886"/>
          </a:xfrm>
          <a:custGeom>
            <a:avLst/>
            <a:gdLst/>
            <a:ahLst/>
            <a:cxnLst/>
            <a:rect r="r" b="b" t="t" l="l"/>
            <a:pathLst>
              <a:path h="1009886" w="1015425">
                <a:moveTo>
                  <a:pt x="0" y="0"/>
                </a:moveTo>
                <a:lnTo>
                  <a:pt x="1015425" y="0"/>
                </a:lnTo>
                <a:lnTo>
                  <a:pt x="1015425" y="1009886"/>
                </a:lnTo>
                <a:lnTo>
                  <a:pt x="0" y="100988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365401" y="2933277"/>
            <a:ext cx="986241" cy="1029284"/>
          </a:xfrm>
          <a:custGeom>
            <a:avLst/>
            <a:gdLst/>
            <a:ahLst/>
            <a:cxnLst/>
            <a:rect r="r" b="b" t="t" l="l"/>
            <a:pathLst>
              <a:path h="1029284" w="986241">
                <a:moveTo>
                  <a:pt x="0" y="0"/>
                </a:moveTo>
                <a:lnTo>
                  <a:pt x="986241" y="0"/>
                </a:lnTo>
                <a:lnTo>
                  <a:pt x="986241" y="1029283"/>
                </a:lnTo>
                <a:lnTo>
                  <a:pt x="0" y="102928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4279915" y="4507975"/>
            <a:ext cx="936664" cy="825967"/>
          </a:xfrm>
          <a:custGeom>
            <a:avLst/>
            <a:gdLst/>
            <a:ahLst/>
            <a:cxnLst/>
            <a:rect r="r" b="b" t="t" l="l"/>
            <a:pathLst>
              <a:path h="825967" w="936664">
                <a:moveTo>
                  <a:pt x="0" y="0"/>
                </a:moveTo>
                <a:lnTo>
                  <a:pt x="936664" y="0"/>
                </a:lnTo>
                <a:lnTo>
                  <a:pt x="936664" y="825968"/>
                </a:lnTo>
                <a:lnTo>
                  <a:pt x="0" y="82596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7294749" y="6156732"/>
            <a:ext cx="1127552" cy="963545"/>
          </a:xfrm>
          <a:custGeom>
            <a:avLst/>
            <a:gdLst/>
            <a:ahLst/>
            <a:cxnLst/>
            <a:rect r="r" b="b" t="t" l="l"/>
            <a:pathLst>
              <a:path h="963545" w="1127552">
                <a:moveTo>
                  <a:pt x="0" y="0"/>
                </a:moveTo>
                <a:lnTo>
                  <a:pt x="1127553" y="0"/>
                </a:lnTo>
                <a:lnTo>
                  <a:pt x="1127553" y="963545"/>
                </a:lnTo>
                <a:lnTo>
                  <a:pt x="0" y="96354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039633" y="7606249"/>
            <a:ext cx="1418008" cy="1237534"/>
          </a:xfrm>
          <a:custGeom>
            <a:avLst/>
            <a:gdLst/>
            <a:ahLst/>
            <a:cxnLst/>
            <a:rect r="r" b="b" t="t" l="l"/>
            <a:pathLst>
              <a:path h="1237534" w="1418008">
                <a:moveTo>
                  <a:pt x="0" y="0"/>
                </a:moveTo>
                <a:lnTo>
                  <a:pt x="1418008" y="0"/>
                </a:lnTo>
                <a:lnTo>
                  <a:pt x="1418008" y="1237534"/>
                </a:lnTo>
                <a:lnTo>
                  <a:pt x="0" y="123753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118530" y="2153104"/>
            <a:ext cx="786202" cy="900480"/>
          </a:xfrm>
          <a:custGeom>
            <a:avLst/>
            <a:gdLst/>
            <a:ahLst/>
            <a:cxnLst/>
            <a:rect r="r" b="b" t="t" l="l"/>
            <a:pathLst>
              <a:path h="900480" w="786202">
                <a:moveTo>
                  <a:pt x="0" y="0"/>
                </a:moveTo>
                <a:lnTo>
                  <a:pt x="786202" y="0"/>
                </a:lnTo>
                <a:lnTo>
                  <a:pt x="786202" y="900480"/>
                </a:lnTo>
                <a:lnTo>
                  <a:pt x="0" y="90048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0146690" y="3633787"/>
            <a:ext cx="1099257" cy="971343"/>
          </a:xfrm>
          <a:custGeom>
            <a:avLst/>
            <a:gdLst/>
            <a:ahLst/>
            <a:cxnLst/>
            <a:rect r="r" b="b" t="t" l="l"/>
            <a:pathLst>
              <a:path h="971343" w="1099257">
                <a:moveTo>
                  <a:pt x="0" y="0"/>
                </a:moveTo>
                <a:lnTo>
                  <a:pt x="1099257" y="0"/>
                </a:lnTo>
                <a:lnTo>
                  <a:pt x="1099257" y="971343"/>
                </a:lnTo>
                <a:lnTo>
                  <a:pt x="0" y="97134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3118530" y="5321775"/>
            <a:ext cx="721505" cy="920714"/>
          </a:xfrm>
          <a:custGeom>
            <a:avLst/>
            <a:gdLst/>
            <a:ahLst/>
            <a:cxnLst/>
            <a:rect r="r" b="b" t="t" l="l"/>
            <a:pathLst>
              <a:path h="920714" w="721505">
                <a:moveTo>
                  <a:pt x="0" y="0"/>
                </a:moveTo>
                <a:lnTo>
                  <a:pt x="721504" y="0"/>
                </a:lnTo>
                <a:lnTo>
                  <a:pt x="721504" y="920714"/>
                </a:lnTo>
                <a:lnTo>
                  <a:pt x="0" y="920714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049099" y="6833111"/>
            <a:ext cx="1294439" cy="1250310"/>
          </a:xfrm>
          <a:custGeom>
            <a:avLst/>
            <a:gdLst/>
            <a:ahLst/>
            <a:cxnLst/>
            <a:rect r="r" b="b" t="t" l="l"/>
            <a:pathLst>
              <a:path h="1250310" w="1294439">
                <a:moveTo>
                  <a:pt x="0" y="0"/>
                </a:moveTo>
                <a:lnTo>
                  <a:pt x="1294439" y="0"/>
                </a:lnTo>
                <a:lnTo>
                  <a:pt x="1294439" y="1250311"/>
                </a:lnTo>
                <a:lnTo>
                  <a:pt x="0" y="1250311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2785334" y="8535153"/>
            <a:ext cx="1387896" cy="779745"/>
          </a:xfrm>
          <a:custGeom>
            <a:avLst/>
            <a:gdLst/>
            <a:ahLst/>
            <a:cxnLst/>
            <a:rect r="r" b="b" t="t" l="l"/>
            <a:pathLst>
              <a:path h="779745" w="1387896">
                <a:moveTo>
                  <a:pt x="0" y="0"/>
                </a:moveTo>
                <a:lnTo>
                  <a:pt x="1387896" y="0"/>
                </a:lnTo>
                <a:lnTo>
                  <a:pt x="1387896" y="779745"/>
                </a:lnTo>
                <a:lnTo>
                  <a:pt x="0" y="779745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666133" y="200678"/>
            <a:ext cx="14955750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Technologies to be used in the solution:</a:t>
            </a:r>
          </a:p>
          <a:p>
            <a:pPr algn="l">
              <a:lnSpc>
                <a:spcPts val="3863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5684333" y="1614574"/>
            <a:ext cx="1291084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Pyth</a:t>
            </a: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419423" y="2950860"/>
            <a:ext cx="243162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Sc</a:t>
            </a:r>
            <a:r>
              <a:rPr lang="en-US" b="true" sz="25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rapy + BeautifulSoup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426129" y="4547980"/>
            <a:ext cx="3098575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PyMuPDF, </a:t>
            </a:r>
            <a:r>
              <a:rPr lang="en-US" b="true" sz="2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python-docx, openpyxl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143454" y="6376788"/>
            <a:ext cx="256535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sp</a:t>
            </a: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aCy + NLTK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550598" y="7780037"/>
            <a:ext cx="297410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Neo4j</a:t>
            </a:r>
            <a:r>
              <a:rPr lang="en-US" b="true" sz="25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(Knowledge Graph)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675578" y="8535153"/>
            <a:ext cx="3173386" cy="93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6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Docke</a:t>
            </a:r>
            <a:r>
              <a:rPr lang="en-US" b="true" sz="27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 + GitHub Actions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093001" y="7127358"/>
            <a:ext cx="141863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</a:t>
            </a: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astAPI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944399" y="5267268"/>
            <a:ext cx="2635744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</a:t>
            </a: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reamlit / React.js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635795" y="3624397"/>
            <a:ext cx="2548397" cy="893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8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LangCh</a:t>
            </a:r>
            <a:r>
              <a:rPr lang="en-US" b="true" sz="26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ain + OpenAI/GPT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675578" y="2117644"/>
            <a:ext cx="255712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FAISS (Vecto</a:t>
            </a:r>
            <a:r>
              <a:rPr lang="en-US" b="true" sz="25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 Search Engine)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0" y="1458365"/>
            <a:ext cx="3842190" cy="67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C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ore language for backend logic, crawling, NLP, and integration.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4486" y="3036364"/>
            <a:ext cx="3842190" cy="10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T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o crawl static and dynamic content (HTML, metadata, tables) from MOSDAC.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0" y="4518387"/>
            <a:ext cx="3842190" cy="67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Pa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rsing and extracting content from PDFs, DOCX, XLSX files.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4486" y="6292158"/>
            <a:ext cx="3842190" cy="10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F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or Named Entity Recognition (NER), intent detection, and tokenization.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4486" y="7688310"/>
            <a:ext cx="3842190" cy="10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T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o model entities like satellites, missions, and products with their relationships.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338759" y="8453092"/>
            <a:ext cx="3842190" cy="10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C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ontainerization and automated CI/CD for scalable, modular deployment.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341332" y="6902130"/>
            <a:ext cx="3842190" cy="10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Li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ghtweight backend server to handle API requests and integrate modules.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287421" y="5240532"/>
            <a:ext cx="3842190" cy="10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F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rontend chatbot interface (choose one based on your speed/UX needs).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304707" y="3584051"/>
            <a:ext cx="3842190" cy="10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F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or Retrieval-Augmented Generation (RAG) — combines context with generative AI.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338759" y="2184027"/>
            <a:ext cx="3842190" cy="67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E</a:t>
            </a: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nables fast semantic search across embedded documents.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16" cy="10287002"/>
            <a:chOff x="0" y="0"/>
            <a:chExt cx="24384021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18635" y="228037"/>
            <a:ext cx="14955750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Estimated implementation cost:</a:t>
            </a:r>
          </a:p>
          <a:p>
            <a:pPr algn="l">
              <a:lnSpc>
                <a:spcPts val="3863"/>
              </a:lnSpc>
            </a:pPr>
          </a:p>
        </p:txBody>
      </p:sp>
      <p:graphicFrame>
        <p:nvGraphicFramePr>
          <p:cNvPr name="Object 5" id="5"/>
          <p:cNvGraphicFramePr/>
          <p:nvPr/>
        </p:nvGraphicFramePr>
        <p:xfrm>
          <a:off x="574546" y="1640163"/>
          <a:ext cx="3771900" cy="2933700"/>
        </p:xfrm>
        <a:graphic>
          <a:graphicData uri="http://schemas.openxmlformats.org/presentationml/2006/ole">
            <p:oleObj imgW="4521200" imgH="36830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-300953" y="8825965"/>
            <a:ext cx="1114237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</a:t>
            </a:r>
            <a:r>
              <a:rPr lang="en-US" b="true" sz="25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otal Estimated Cost (For MVP – 3 Months): ₹15,000 – ₹20,000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16" cy="10287002"/>
            <a:chOff x="0" y="0"/>
            <a:chExt cx="24384021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050173" y="1965021"/>
            <a:ext cx="4073870" cy="6340653"/>
          </a:xfrm>
          <a:custGeom>
            <a:avLst/>
            <a:gdLst/>
            <a:ahLst/>
            <a:cxnLst/>
            <a:rect r="r" b="b" t="t" l="l"/>
            <a:pathLst>
              <a:path h="6340653" w="4073870">
                <a:moveTo>
                  <a:pt x="0" y="0"/>
                </a:moveTo>
                <a:lnTo>
                  <a:pt x="4073870" y="0"/>
                </a:lnTo>
                <a:lnTo>
                  <a:pt x="4073870" y="6340653"/>
                </a:lnTo>
                <a:lnTo>
                  <a:pt x="0" y="6340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17984" y="1965021"/>
            <a:ext cx="4004884" cy="6356959"/>
          </a:xfrm>
          <a:custGeom>
            <a:avLst/>
            <a:gdLst/>
            <a:ahLst/>
            <a:cxnLst/>
            <a:rect r="r" b="b" t="t" l="l"/>
            <a:pathLst>
              <a:path h="6356959" w="4004884">
                <a:moveTo>
                  <a:pt x="0" y="0"/>
                </a:moveTo>
                <a:lnTo>
                  <a:pt x="4004884" y="0"/>
                </a:lnTo>
                <a:lnTo>
                  <a:pt x="4004884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0381" y="5025390"/>
            <a:ext cx="8194027" cy="3943376"/>
          </a:xfrm>
          <a:custGeom>
            <a:avLst/>
            <a:gdLst/>
            <a:ahLst/>
            <a:cxnLst/>
            <a:rect r="r" b="b" t="t" l="l"/>
            <a:pathLst>
              <a:path h="3943376" w="8194027">
                <a:moveTo>
                  <a:pt x="0" y="0"/>
                </a:moveTo>
                <a:lnTo>
                  <a:pt x="8194027" y="0"/>
                </a:lnTo>
                <a:lnTo>
                  <a:pt x="8194027" y="3943376"/>
                </a:lnTo>
                <a:lnTo>
                  <a:pt x="0" y="39433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52612" y="1403798"/>
            <a:ext cx="5791461" cy="3257697"/>
          </a:xfrm>
          <a:custGeom>
            <a:avLst/>
            <a:gdLst/>
            <a:ahLst/>
            <a:cxnLst/>
            <a:rect r="r" b="b" t="t" l="l"/>
            <a:pathLst>
              <a:path h="3257697" w="5791461">
                <a:moveTo>
                  <a:pt x="0" y="0"/>
                </a:moveTo>
                <a:lnTo>
                  <a:pt x="5791461" y="0"/>
                </a:lnTo>
                <a:lnTo>
                  <a:pt x="5791461" y="3257697"/>
                </a:lnTo>
                <a:lnTo>
                  <a:pt x="0" y="32576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38210" y="304509"/>
            <a:ext cx="3960316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Prototype Screenshots: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21734" y="8596547"/>
            <a:ext cx="8727281" cy="33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Prototype 2 - MOSDAC Chatbot  - Mobile Version  (For Simple User Farmers)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4573" y="9220200"/>
            <a:ext cx="7951589" cy="33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Prototype 2 - MOSDAC Chatbot  - Desktop Version  (For Researchers)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10889" y="4690111"/>
            <a:ext cx="3670102" cy="33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Prototype 1 - MOSDAC Chatbot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16" cy="10287002"/>
            <a:chOff x="0" y="0"/>
            <a:chExt cx="24384021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DAGsgG6mM9s</dc:identifier>
  <dcterms:modified xsi:type="dcterms:W3CDTF">2011-08-01T06:04:30Z</dcterms:modified>
  <cp:revision>1</cp:revision>
  <dc:title>Bharatiya Antariksh Hackathon 2025 Idea Submission PPT.pptx</dc:title>
</cp:coreProperties>
</file>